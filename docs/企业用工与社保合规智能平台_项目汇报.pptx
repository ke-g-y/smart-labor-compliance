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72cdf501264821" /><Relationship Type="http://schemas.openxmlformats.org/officeDocument/2006/relationships/extended-properties" Target="/docProps/app.xml" Id="R151f2ee6a1ec4ca9" /><Relationship Type="http://schemas.openxmlformats.org/officeDocument/2006/relationships/officeDocument" Target="/ppt/presentation.xml" Id="Rd2822530dfee4d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8efba09c95494e"/>
  </p:sldMasterIdLst>
  <p:notesMasterIdLst>
    <p:notesMasterId xmlns:r="http://schemas.openxmlformats.org/officeDocument/2006/relationships" r:id="R3f9f5c52dbe441a9"/>
  </p:notesMasterIdLst>
  <p:sldIdLst>
    <p:sldId xmlns:r="http://schemas.openxmlformats.org/officeDocument/2006/relationships" id="256" r:id="R898063277a514754"/>
    <p:sldId xmlns:r="http://schemas.openxmlformats.org/officeDocument/2006/relationships" id="257" r:id="Rc3f57820952447fc"/>
    <p:sldId xmlns:r="http://schemas.openxmlformats.org/officeDocument/2006/relationships" id="258" r:id="R5e3b048d196a4946"/>
    <p:sldId xmlns:r="http://schemas.openxmlformats.org/officeDocument/2006/relationships" id="259" r:id="R0e43004b92f84bae"/>
    <p:sldId xmlns:r="http://schemas.openxmlformats.org/officeDocument/2006/relationships" id="260" r:id="Rc5e6a5679b994bde"/>
    <p:sldId xmlns:r="http://schemas.openxmlformats.org/officeDocument/2006/relationships" id="261" r:id="Rc695605f30a743be"/>
    <p:sldId xmlns:r="http://schemas.openxmlformats.org/officeDocument/2006/relationships" id="262" r:id="R00c20b50c8ba453b"/>
    <p:sldId xmlns:r="http://schemas.openxmlformats.org/officeDocument/2006/relationships" id="263" r:id="Re5c8d1af0620439f"/>
    <p:sldId xmlns:r="http://schemas.openxmlformats.org/officeDocument/2006/relationships" id="264" r:id="R3d3b13d14a9744c7"/>
    <p:sldId xmlns:r="http://schemas.openxmlformats.org/officeDocument/2006/relationships" id="265" r:id="R88535aa9b0504bf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8efba09c95494e" /><Relationship Type="http://schemas.openxmlformats.org/officeDocument/2006/relationships/theme" Target="/ppt/theme/theme1.xml" Id="R0cd7d9e1f72a4b0f" /><Relationship Type="http://schemas.openxmlformats.org/officeDocument/2006/relationships/notesMaster" Target="/ppt/notesMasters/notesMaster1.xml" Id="R3f9f5c52dbe441a9" /><Relationship Type="http://schemas.openxmlformats.org/officeDocument/2006/relationships/presProps" Target="/ppt/presProps.xml" Id="Reacc08d9d94c40eb" /><Relationship Type="http://schemas.openxmlformats.org/officeDocument/2006/relationships/viewProps" Target="/ppt/viewProps.xml" Id="R91f728a41ac44f80" /><Relationship Type="http://schemas.openxmlformats.org/officeDocument/2006/relationships/tableStyles" Target="/ppt/tableStyles.xml" Id="R8c2afaaa516444cd" /><Relationship Type="http://schemas.openxmlformats.org/officeDocument/2006/relationships/slide" Target="/ppt/slides/slide1.xml" Id="R898063277a514754" /><Relationship Type="http://schemas.openxmlformats.org/officeDocument/2006/relationships/slide" Target="/ppt/slides/slide2.xml" Id="Rc3f57820952447fc" /><Relationship Type="http://schemas.openxmlformats.org/officeDocument/2006/relationships/slide" Target="/ppt/slides/slide3.xml" Id="R5e3b048d196a4946" /><Relationship Type="http://schemas.openxmlformats.org/officeDocument/2006/relationships/slide" Target="/ppt/slides/slide4.xml" Id="R0e43004b92f84bae" /><Relationship Type="http://schemas.openxmlformats.org/officeDocument/2006/relationships/slide" Target="/ppt/slides/slide5.xml" Id="Rc5e6a5679b994bde" /><Relationship Type="http://schemas.openxmlformats.org/officeDocument/2006/relationships/slide" Target="/ppt/slides/slide6.xml" Id="Rc695605f30a743be" /><Relationship Type="http://schemas.openxmlformats.org/officeDocument/2006/relationships/slide" Target="/ppt/slides/slide7.xml" Id="R00c20b50c8ba453b" /><Relationship Type="http://schemas.openxmlformats.org/officeDocument/2006/relationships/slide" Target="/ppt/slides/slide8.xml" Id="Re5c8d1af0620439f" /><Relationship Type="http://schemas.openxmlformats.org/officeDocument/2006/relationships/slide" Target="/ppt/slides/slide9.xml" Id="R3d3b13d14a9744c7" /><Relationship Type="http://schemas.openxmlformats.org/officeDocument/2006/relationships/slide" Target="/ppt/slides/slide10.xml" Id="R88535aa9b0504b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8ac8656378e45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5803902a2946ff" /><Relationship Type="http://schemas.openxmlformats.org/officeDocument/2006/relationships/notesMaster" Target="/ppt/notesMasters/notesMaster1.xml" Id="R63ce8d3c35ec4b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f773be81144324" /><Relationship Type="http://schemas.openxmlformats.org/officeDocument/2006/relationships/notesMaster" Target="/ppt/notesMasters/notesMaster1.xml" Id="Rc19ecda0e15a4f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1ab672efff49de" /><Relationship Type="http://schemas.openxmlformats.org/officeDocument/2006/relationships/notesMaster" Target="/ppt/notesMasters/notesMaster1.xml" Id="R8e3332fcf60e46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33eac2210245c2" /><Relationship Type="http://schemas.openxmlformats.org/officeDocument/2006/relationships/notesMaster" Target="/ppt/notesMasters/notesMaster1.xml" Id="Rf55fec2d0f1249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a07e7897774f19" /><Relationship Type="http://schemas.openxmlformats.org/officeDocument/2006/relationships/notesMaster" Target="/ppt/notesMasters/notesMaster1.xml" Id="Rc05e2d79ac714e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1e2b8b59a54210" /><Relationship Type="http://schemas.openxmlformats.org/officeDocument/2006/relationships/notesMaster" Target="/ppt/notesMasters/notesMaster1.xml" Id="R558d29b550284a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73a66dfa2e489a" /><Relationship Type="http://schemas.openxmlformats.org/officeDocument/2006/relationships/notesMaster" Target="/ppt/notesMasters/notesMaster1.xml" Id="R52804426852f47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878fd4e50a4b14" /><Relationship Type="http://schemas.openxmlformats.org/officeDocument/2006/relationships/notesMaster" Target="/ppt/notesMasters/notesMaster1.xml" Id="Rde5b610d3f3a4d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48d3e4c2f74b97" /><Relationship Type="http://schemas.openxmlformats.org/officeDocument/2006/relationships/notesMaster" Target="/ppt/notesMasters/notesMaster1.xml" Id="Rb1bac7582f4146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9ae88e0188424e" /><Relationship Type="http://schemas.openxmlformats.org/officeDocument/2006/relationships/notesMaster" Target="/ppt/notesMasters/notesMaster1.xml" Id="Rafe19b4fa94143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0dc7a8b06472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804e2ac62734353" /><Relationship Type="http://schemas.openxmlformats.org/officeDocument/2006/relationships/slideLayout" Target="/ppt/slideLayouts/slideLayout2.xml" Id="Rcb86b260f66749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86b260f66749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50c561c287416f" /><Relationship Type="http://schemas.openxmlformats.org/officeDocument/2006/relationships/notesSlide" Target="/ppt/notesSlides/notesSlide1.xml" Id="Rabe23fd8654f4a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a0bca6b03545e9" /><Relationship Type="http://schemas.openxmlformats.org/officeDocument/2006/relationships/notesSlide" Target="/ppt/notesSlides/notesSlide2.xml" Id="R6cbe1fe1318840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f8a345338941a7" /><Relationship Type="http://schemas.openxmlformats.org/officeDocument/2006/relationships/notesSlide" Target="/ppt/notesSlides/notesSlide3.xml" Id="Rafe0f412a8c144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f1d9f41a0d4a38" /><Relationship Type="http://schemas.openxmlformats.org/officeDocument/2006/relationships/notesSlide" Target="/ppt/notesSlides/notesSlide4.xml" Id="R9b9562ab8f1c49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622fa7db444647" /><Relationship Type="http://schemas.openxmlformats.org/officeDocument/2006/relationships/notesSlide" Target="/ppt/notesSlides/notesSlide5.xml" Id="Rf4b69d0830a14b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03745cac744db8" /><Relationship Type="http://schemas.openxmlformats.org/officeDocument/2006/relationships/notesSlide" Target="/ppt/notesSlides/notesSlide6.xml" Id="R17bbce08761844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8e065978bc49c4" /><Relationship Type="http://schemas.openxmlformats.org/officeDocument/2006/relationships/notesSlide" Target="/ppt/notesSlides/notesSlide7.xml" Id="R16ea6eb20b274a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417d4201524385" /><Relationship Type="http://schemas.openxmlformats.org/officeDocument/2006/relationships/notesSlide" Target="/ppt/notesSlides/notesSlide8.xml" Id="R2aff2eadaa5842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47dfb58ca34873" /><Relationship Type="http://schemas.openxmlformats.org/officeDocument/2006/relationships/notesSlide" Target="/ppt/notesSlides/notesSlide9.xml" Id="R174f791ea4024a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632e93a27241c2" /><Relationship Type="http://schemas.openxmlformats.org/officeDocument/2006/relationships/notesSlide" Target="/ppt/notesSlides/notesSlide10.xml" Id="Rf5514ca8f89041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CF9FD9-B205-4968-996B-2BAC0F9F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F6F7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48FC7-360C-4C22-A0A4-F2F4A455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D"/>
          </a:solidFill>
          <a:ln xmlns:a="http://schemas.openxmlformats.org/drawingml/2006/main" w="0">
            <a:solidFill>
              <a:srgbClr val="1423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DE478-755F-4318-B0CF-C6EA185C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32"/>
          </a:solidFill>
          <a:ln xmlns:a="http://schemas.openxmlformats.org/drawingml/2006/main" w="0">
            <a:solidFill>
              <a:srgbClr val="203A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32EBC-5A01-4335-B2E6-C1A75E44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77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749"/>
          </a:solidFill>
          <a:ln xmlns:a="http://schemas.openxmlformats.org/drawingml/2006/main" w="0">
            <a:solidFill>
              <a:srgbClr val="2C57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B7092-BCD6-4FBD-BF93-D09ED774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8C4"/>
          </a:solidFill>
          <a:ln xmlns:a="http://schemas.openxmlformats.org/drawingml/2006/main" w="0">
            <a:solidFill>
              <a:srgbClr val="A9D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6A433-10BA-469A-9D28-27642030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E54"/>
          </a:solidFill>
          <a:ln xmlns:a="http://schemas.openxmlformats.org/drawingml/2006/main" w="0">
            <a:solidFill>
              <a:srgbClr val="365E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A7607-43E3-4902-96D1-7AA662B7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0050"/>
            <a:ext cx="3714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129"/>
          </a:solidFill>
          <a:ln xmlns:a="http://schemas.openxmlformats.org/drawingml/2006/main" w="9525">
            <a:solidFill>
              <a:srgbClr val="4F76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6BBEF-8BFC-458D-8961-D1F0677D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5250"/>
            <a:ext cx="327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5A0"/>
          </a:solidFill>
          <a:ln xmlns:a="http://schemas.openxmlformats.org/drawingml/2006/main" w="0">
            <a:solidFill>
              <a:srgbClr val="83B5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76C30-0810-40FC-BF3B-E17FD79F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24000"/>
            <a:ext cx="190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5A0"/>
          </a:solidFill>
          <a:ln xmlns:a="http://schemas.openxmlformats.org/drawingml/2006/main" w="0">
            <a:solidFill>
              <a:srgbClr val="83B5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6256A-B18E-45A2-B7DB-E7AB9DEA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EFE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EFE4"/>
                </a:solidFill>
                <a:latin typeface="Aptos"/>
                <a:ea typeface="Aptos"/>
                <a:cs typeface="Aptos"/>
              </a:rPr>
              <a:t>企业用工与社保合规智能平台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22A2F-D601-409A-A577-9223FF44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572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把区域政策、企业制度与办事路径沉淀为可运营的智能合规平台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F0628-0846-4364-971D-F2E0549C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590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E1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FE1D8"/>
                </a:solidFill>
                <a:latin typeface="Aptos"/>
                <a:ea typeface="Aptos"/>
                <a:cs typeface="Aptos"/>
              </a:rPr>
              <a:t>基于 Vue 3 + FastAPI + MySQL + Dify + RAGFlow，首期聚焦陕西地区企业用工、社保、医保、假期与劳动争议场景。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FFF84-A3D9-4A12-AC43-DFE985F2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F6F7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740B9-809A-44D4-9FF2-16C6FCF2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24425"/>
            <a:ext cx="2533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组织名称：________________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15BA6-1EE9-4BB7-9E15-A38F6108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5775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F6F7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79A3F-6D34-4C0E-948F-068B4CDB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24425"/>
            <a:ext cx="3105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汇报人/团队成员：________________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E671A-F295-409D-8AF8-A9ACB30B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8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8AD"/>
                </a:solidFill>
                <a:latin typeface="Aptos"/>
                <a:ea typeface="Aptos"/>
                <a:cs typeface="Aptos"/>
              </a:rPr>
              <a:t>项目汇报 PPT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CBBB0-16BE-4550-9476-A17702C6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9055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8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8AD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6921A6-D3E4-46AC-B7B9-08D5CCFD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4820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8C4"/>
          </a:solidFill>
          <a:ln xmlns:a="http://schemas.openxmlformats.org/drawingml/2006/main" w="0">
            <a:solidFill>
              <a:srgbClr val="A9D8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5BF9ED-45E6-48A9-BE00-A58C1B84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720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MVP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44C929-4F5B-4340-92D0-C4CAF830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720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EFE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EFE4"/>
                </a:solidFill>
                <a:latin typeface="Aptos"/>
                <a:ea typeface="Aptos"/>
                <a:cs typeface="Aptos"/>
              </a:rPr>
              <a:t>当前阶段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D77D8F-A6DD-4F7A-B93C-B206CDEA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625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A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FCABE"/>
                </a:solidFill>
                <a:latin typeface="Aptos"/>
                <a:ea typeface="Aptos"/>
                <a:cs typeface="Aptos"/>
              </a:rPr>
              <a:t>可演示商业化原型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F4E4A7-3E69-4A68-BFB2-7FD254FE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4820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8"/>
          </a:solidFill>
          <a:ln xmlns:a="http://schemas.openxmlformats.org/drawingml/2006/main" w="0">
            <a:solidFill>
              <a:srgbClr val="F2D7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2D1BB6-A7AF-4FC4-ACCC-245EC8EC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720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10人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A59D35-D2C0-48CA-802D-2FA6401A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9720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EFE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EFE4"/>
                </a:solidFill>
                <a:latin typeface="Aptos"/>
                <a:ea typeface="Aptos"/>
                <a:cs typeface="Aptos"/>
              </a:rPr>
              <a:t>建议团队规模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84E541-3202-4C8A-BC1E-C0ECE721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1625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A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FCABE"/>
                </a:solidFill>
                <a:latin typeface="Aptos"/>
                <a:ea typeface="Aptos"/>
                <a:cs typeface="Aptos"/>
              </a:rPr>
              <a:t>产品、前后端、知识运营与测试</a:t>
            </a:r>
          </a:p>
        </p:txBody>
      </p:sp>
    </p:spTree>
    <p:extLst>
      <p:ext uri="{BB962C8B-B14F-4D97-AF65-F5344CB8AC3E}">
        <p14:creationId xmlns:p14="http://schemas.microsoft.com/office/powerpoint/2010/main" val="1040535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2623D4-8CE8-4918-BFCE-DAE4BC03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F6F7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5E98F-8F56-4A3B-A14D-2568CDAE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7A5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7A58"/>
                </a:solidFill>
                <a:latin typeface="Aptos"/>
                <a:ea typeface="Aptos"/>
                <a:cs typeface="Aptos"/>
              </a:rPr>
              <a:t>MARKET NEED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2E691-AC9D-4819-B51E-558D386A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71475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D5E1C-2B61-41C4-B1F7-F3422A6C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企业合规问题不是“不会问”，而是政策、地区与制度口径难以统一。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D0025-DCDE-42C5-A774-2831D3B2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项目书将目标场景定位在人力资源、行政、法务与员工服务交叉地带，问题高频、口径敏感、重复答疑成本高。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5341E-ED5F-44F6-99B6-2860E7E7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E172C-1769-4872-85F9-DD0E364A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7A5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B41D0-ADE5-4014-9961-7F72C9D7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67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政策碎片化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E2112-7C63-4289-BBB0-6545819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909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国家法律、地方政策、医保社保规则分散在不同官网与通知中。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38C15-E8BF-4DDE-B395-388B358E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765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18DE3-AAA9-42D6-B73F-C05C5C4E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6A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6A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8E1E8-3CC8-449B-920F-908D1C5B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67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地区差异大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E2189-3859-44AA-88BF-0FDCB6F1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909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最低工资、假期、医保、灵活就业养老等规则明显依赖地区口径。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2D66E-0D37-4538-BD43-866C1BF3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D9A68-F765-4131-971A-831913DC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480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7A5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1E47A-D089-4403-9E56-515C87D3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67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重复答疑成本高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5D5B7-7AD7-4103-86C8-A2186480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909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HR 与行政长期处理产假、社保、仲裁、加班等重复问题。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B85CB7-ABA0-49DE-BA79-1D42F315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5529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B50CEB-2071-4EFA-8F84-B7720689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7244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6A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6A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1C69D5-11EC-4434-BFD7-2C24C4D2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743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知识沉淀弱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DF6EB-C701-4F3E-98A7-37E91CD1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0673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企业制度、FAQ、政策截图和办事经验难以形成标准资产。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3E690A-006D-44BC-9D0C-6B846E97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5295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4CF444-9DDB-4921-B86F-9A832B8D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7244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7A5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ACC725-F5CA-437B-B524-016DA317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743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风险判断难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E34687-1C1A-4E56-A63B-946369CD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0673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个案咨询需要同时给出适用条件、风险等级和办理路径。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B094F5-51FD-4CF5-8F0B-471A581B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34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02F"/>
          </a:solidFill>
          <a:ln xmlns:a="http://schemas.openxmlformats.org/drawingml/2006/main" w="0">
            <a:solidFill>
              <a:srgbClr val="D690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B81C5C-96C5-4C17-97EA-F6A2FF98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897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真正价值在于把“答案生成”升级为“知识运营 + 来源追溯 + 租户隔离 + 反馈闭环”。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04DDED-2C7B-4663-8971-FDA7FC5F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A928C"/>
                </a:solidFill>
                <a:latin typeface="Aptos"/>
                <a:ea typeface="Aptos"/>
                <a:cs typeface="Aptos"/>
              </a:rPr>
              <a:t>来源：项目书《项目背景》《企业痛点》与 README 核心能力梳理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CDDF8A-6E30-4E31-BA89-14A57887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E4E8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853A3B-8216-4731-8C69-BBAD50F2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A928C"/>
                </a:solidFill>
                <a:latin typeface="Aptos"/>
                <a:ea typeface="Aptos"/>
                <a:cs typeface="Aptos"/>
              </a:rPr>
              <a:t>企业用工与社保合规智能平台 | 项目汇报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509253-E049-44E6-8451-EAA2844A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A92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651131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907ECB-EFB0-448E-B986-B2D3B424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F6F7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F1FC2-FD39-4831-A4E4-88EF025B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7A5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7A58"/>
                </a:solidFill>
                <a:latin typeface="Aptos"/>
                <a:ea typeface="Aptos"/>
                <a:cs typeface="Aptos"/>
              </a:rPr>
              <a:t>PRODUCT 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B0C5A-3C0C-46F9-B5C4-4036D411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71475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0B989-0F6F-474C-92D6-9CFA0677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这不是单一聊天页面，而是一套可复制的“区域政策 + 企业制度 + 办事路径”平台。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CFB92-9B4D-47CD-B224-465A25B7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首期以陕西用工与社保合规知识包作为试点，但底层产品形态面向多地区、多租户和商业化交付。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FFB5D-B289-4715-BC38-EB7DDC1D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790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11430">
            <a:solidFill>
              <a:srgbClr val="A9D8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D1192-FC11-44F7-BCD0-20ABE217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140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智能问答前台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467CA-AFB9-461A-AC4C-76D6AFEA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8"/>
          </a:solidFill>
          <a:ln xmlns:a="http://schemas.openxmlformats.org/drawingml/2006/main" w="0">
            <a:solidFill>
              <a:srgbClr val="1F7A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BBB65-E924-4489-9CF7-1137D12D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1409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员工 / HR 自然语言提问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CC6CF-05DD-408C-804A-85D67800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861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F"/>
          </a:solidFill>
          <a:ln xmlns:a="http://schemas.openxmlformats.org/drawingml/2006/main" w="0">
            <a:solidFill>
              <a:srgbClr val="CFD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C4573-01DE-4B11-951A-2C955512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790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8"/>
          </a:solidFill>
          <a:ln xmlns:a="http://schemas.openxmlformats.org/drawingml/2006/main" w="11430">
            <a:solidFill>
              <a:srgbClr val="BDD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CE47D-CDAA-49E3-856E-74469005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28950"/>
            <a:ext cx="140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企业后台管理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E969F-1A2F-47B0-88A3-7BD5684F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67125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A2"/>
          </a:solidFill>
          <a:ln xmlns:a="http://schemas.openxmlformats.org/drawingml/2006/main" w="0">
            <a:solidFill>
              <a:srgbClr val="2F66A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99A8C-17B3-4074-9B48-C0D4CB2E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86200"/>
            <a:ext cx="1409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租户、账号、日志、反馈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CEA5D-0091-49AC-9BA0-14F1225F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861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F"/>
          </a:solidFill>
          <a:ln xmlns:a="http://schemas.openxmlformats.org/drawingml/2006/main" w="0">
            <a:solidFill>
              <a:srgbClr val="CFD6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6206A-A47C-4B63-9B94-42C7A016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81300"/>
            <a:ext cx="1790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11430">
            <a:solidFill>
              <a:srgbClr val="A9D8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86DD7-25C7-43EB-BEA0-0A854F34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28950"/>
            <a:ext cx="140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知识运营中心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814EB-9658-4A58-93E5-A06F714B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67125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8"/>
          </a:solidFill>
          <a:ln xmlns:a="http://schemas.openxmlformats.org/drawingml/2006/main" w="0">
            <a:solidFill>
              <a:srgbClr val="1F7A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590766-730F-4779-96CD-F31A66E9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86200"/>
            <a:ext cx="1409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FAQ、来源、知识包维护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6E5254-A4E5-4272-861D-E282DBF2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861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F"/>
          </a:solidFill>
          <a:ln xmlns:a="http://schemas.openxmlformats.org/drawingml/2006/main" w="0">
            <a:solidFill>
              <a:srgbClr val="CFD6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3E6C0F-6BD3-4D4C-817F-8C67B963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1790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8"/>
          </a:solidFill>
          <a:ln xmlns:a="http://schemas.openxmlformats.org/drawingml/2006/main" w="11430">
            <a:solidFill>
              <a:srgbClr val="BDD6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36CFFC-A882-4F70-B485-C6CDB161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28950"/>
            <a:ext cx="140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AI 编排与检索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163E9B-F4A2-4975-8567-89D1BB83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67125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A2"/>
          </a:solidFill>
          <a:ln xmlns:a="http://schemas.openxmlformats.org/drawingml/2006/main" w="0">
            <a:solidFill>
              <a:srgbClr val="2F66A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B2C898-41CC-4206-AAC9-3097A4F5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86200"/>
            <a:ext cx="1409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Dify + RAGFlow + 本地 FAQ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174110-3FC1-4132-86B5-02CF60EB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861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F"/>
          </a:solidFill>
          <a:ln xmlns:a="http://schemas.openxmlformats.org/drawingml/2006/main" w="0">
            <a:solidFill>
              <a:srgbClr val="CFD6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177082-6786-430E-9DD6-95F94937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81300"/>
            <a:ext cx="1790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11430">
            <a:solidFill>
              <a:srgbClr val="A9D8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59A9A7-D8AC-4349-B4D7-D0D120D2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28950"/>
            <a:ext cx="140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接口与日志数据层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45D981-1356-4C0B-BE7A-AFB1A54D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67125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8"/>
          </a:solidFill>
          <a:ln xmlns:a="http://schemas.openxmlformats.org/drawingml/2006/main" w="0">
            <a:solidFill>
              <a:srgbClr val="1F7A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5BC49C-6B69-47F1-A41F-134FC794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86200"/>
            <a:ext cx="1409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FastAPI + MySQL 落库闭环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7335D6-3359-4EAD-9EFA-C80A1F88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1970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8"/>
          </a:solidFill>
          <a:ln xmlns:a="http://schemas.openxmlformats.org/drawingml/2006/main" w="0">
            <a:solidFill>
              <a:srgbClr val="1F7A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C9FA3C-1E8C-4B0B-93E1-3959B37F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7207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陕西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509046-0876-44A3-A61D-87E6B047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626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首期场景包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8983D0-633C-4A76-83FE-E166CF33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43575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用工、社保、医保、假期、争议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C78995-BCFA-463C-A4DB-E27F672F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1970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A2"/>
          </a:solidFill>
          <a:ln xmlns:a="http://schemas.openxmlformats.org/drawingml/2006/main" w="0">
            <a:solidFill>
              <a:srgbClr val="2F66A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8C677F-AEA7-44CB-97F5-CA060391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17207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多租户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0B30DA-7FD6-47D6-ABCD-B87BCF27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5626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平台底座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EDCE3E-EC5F-44A9-A4BE-37ED32D4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743575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租户编码 + JWT 角色权限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93462E-3A63-4D2D-927D-B088EB1E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1970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02F"/>
          </a:solidFill>
          <a:ln xmlns:a="http://schemas.openxmlformats.org/drawingml/2006/main" w="0">
            <a:solidFill>
              <a:srgbClr val="D6902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C8AA95-E997-47B6-BB73-1A569818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17207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可兜底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F42B1F-BE74-4A9E-B7AB-CCBE959F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5626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AI 接入策略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DF8606-2146-418C-87EE-43D3208A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743575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Dify 不可用时本地 FAQ 回答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FDD211-7601-4E8A-BAA1-E9D4EA5F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A928C"/>
                </a:solidFill>
                <a:latin typeface="Aptos"/>
                <a:ea typeface="Aptos"/>
                <a:cs typeface="Aptos"/>
              </a:rPr>
              <a:t>来源：README、项目书《产品定位》《首期 MVP 试点场景》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58E1C4-A26F-4520-87E8-F75D8A38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E4E8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8A6957-FED0-4B57-9920-4EE3B901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A928C"/>
                </a:solidFill>
                <a:latin typeface="Aptos"/>
                <a:ea typeface="Aptos"/>
                <a:cs typeface="Aptos"/>
              </a:rPr>
              <a:t>企业用工与社保合规智能平台 | 项目汇报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553F5B-9B25-4CF4-B6FE-7F6C44E4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A92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13173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C2785B-DFA2-43F2-81E4-CB6EE036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F6F7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7E074-5ED9-462C-B8C4-6DF930D9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7A5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7A58"/>
                </a:solidFill>
                <a:latin typeface="Aptos"/>
                <a:ea typeface="Aptos"/>
                <a:cs typeface="Aptos"/>
              </a:rPr>
              <a:t>PRODUCT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9F858-50A4-4AA5-84A0-9C4C7B8D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71475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95450-5C06-478C-B154-68C57577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产品闭环从一次问答开始，落到来源、日志、反馈和知识包迭代。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201C9-3FD7-4A61-9245-9E8A5BA0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876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平台把“问答结果”拆成可运营对象：问题、答案、来源、行动项、风险等级、反馈和复核状态。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F36D9-A8BA-453C-B30F-37642900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581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11430">
            <a:solidFill>
              <a:srgbClr val="A9D8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6ED1E-BB12-4AF3-939E-47C59484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提问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3B658-C1E6-4C84-8615-1BDD5E21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员工 / HR 输入自然语言问题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38C10-3DF5-41D4-A482-29176D8A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813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F"/>
          </a:solidFill>
          <a:ln xmlns:a="http://schemas.openxmlformats.org/drawingml/2006/main" w="0">
            <a:solidFill>
              <a:srgbClr val="CFD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77B23-4A18-44A7-B031-25160D61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81350"/>
            <a:ext cx="1581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8"/>
          </a:solidFill>
          <a:ln xmlns:a="http://schemas.openxmlformats.org/drawingml/2006/main" w="11430">
            <a:solidFill>
              <a:srgbClr val="BDD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8D4DD-7AF4-4243-993C-1553E8B2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528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6BF22-6C58-47E0-857B-4E4BAC6D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766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Dify Chatflow 或本地 FAQ 兜底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6FE0D-5D2C-4D3C-84F9-623C4A2E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813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F"/>
          </a:solidFill>
          <a:ln xmlns:a="http://schemas.openxmlformats.org/drawingml/2006/main" w="0">
            <a:solidFill>
              <a:srgbClr val="CFD6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C8FBC-26C3-4930-BDCD-28C3D760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81300"/>
            <a:ext cx="1581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11430">
            <a:solidFill>
              <a:srgbClr val="A9D8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04AAB-08F6-4A51-841A-64F2F434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527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展示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202DA-02E9-4A9B-B9BB-F46E78DA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766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结论、来源、办事路径、风险提示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437A6-E9B2-4115-BB88-016ECDAD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F"/>
          </a:solidFill>
          <a:ln xmlns:a="http://schemas.openxmlformats.org/drawingml/2006/main" w="0">
            <a:solidFill>
              <a:srgbClr val="CFD6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E19446-DFE7-45EA-BBC7-A4212D00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81350"/>
            <a:ext cx="1581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8"/>
          </a:solidFill>
          <a:ln xmlns:a="http://schemas.openxmlformats.org/drawingml/2006/main" w="11430">
            <a:solidFill>
              <a:srgbClr val="BDD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F260B-F9EC-48BC-86D0-8204495B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528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落库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4DB52-C296-4849-9F45-807A6501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766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问答日志、反馈、来源目录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73F498-E5E3-4644-A4E5-BD1B456E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813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F"/>
          </a:solidFill>
          <a:ln xmlns:a="http://schemas.openxmlformats.org/drawingml/2006/main" w="0">
            <a:solidFill>
              <a:srgbClr val="CFD6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C35F76-E6EC-41C9-AEFA-C7B4821D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81300"/>
            <a:ext cx="1581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11430">
            <a:solidFill>
              <a:srgbClr val="A9D8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B75FEB-A901-412E-BEBA-FA51137F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527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运营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A997B6-3827-4D52-AA6C-8C64461B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766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FAQ / 知识包 / 来源复核持续更新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425519-0C0C-42D3-A61D-F9E28CB8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9650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CFA"/>
          </a:solidFill>
          <a:ln xmlns:a="http://schemas.openxmlformats.org/drawingml/2006/main" w="9525">
            <a:solidFill>
              <a:srgbClr val="A9D8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44D0EC-BE98-4347-B8EB-D8E0ABD5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10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8"/>
                </a:solidFill>
                <a:latin typeface="Aptos"/>
                <a:ea typeface="Aptos"/>
                <a:cs typeface="Aptos"/>
              </a:rPr>
              <a:t>用户价值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B62AE4-223D-4FAF-9984-5132CD79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768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更快得到统一口径、依据来源与办理路径。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751E85-3D61-450A-95CD-4CE29BDD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9650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BDD6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39C507-DC4F-459A-8D54-174330F9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10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6A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A2"/>
                </a:solidFill>
                <a:latin typeface="Aptos"/>
                <a:ea typeface="Aptos"/>
                <a:cs typeface="Aptos"/>
              </a:rPr>
              <a:t>运营价值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F48EF8-E9E5-45D6-A37E-1462B490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768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把高频问题和无帮助反馈转化为知识库迭代线索。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E24B61-36CE-488D-A204-CF9ACCC1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A928C"/>
                </a:solidFill>
                <a:latin typeface="Aptos"/>
                <a:ea typeface="Aptos"/>
                <a:cs typeface="Aptos"/>
              </a:rPr>
              <a:t>来源：前端需求文档、后端需求文档、DIFY_RAGFLOW_GUIDE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A45059-94F9-4A76-AF23-075E6B6A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E4E8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25D0AB-927A-4A1D-8850-D8D00579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A928C"/>
                </a:solidFill>
                <a:latin typeface="Aptos"/>
                <a:ea typeface="Aptos"/>
                <a:cs typeface="Aptos"/>
              </a:rPr>
              <a:t>企业用工与社保合规智能平台 | 项目汇报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15DC50-AAB9-42F6-AB8B-25714AB0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A928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01731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51B8D7-DDB0-45D5-B38D-8CD6F020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F6F7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88540-1CD3-471F-918D-53BAEB58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7A5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7A58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8A51A-217C-4A35-9A33-088FDF9B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71475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6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CA8E3-9B57-47AE-90B9-2DE9819F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架构采用“业务系统稳定落库 + AI 能力可配置接入 + 本地 FAQ 兜底”。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18522-03B0-4354-A22F-36214DB0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FastAPI 保持核心业务边界，Dify/RAGFlow 承担 AI 编排与知识治理；即使外部 AI 暂不可用，后台和 FAQ 仍能运行。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407B6-BBC7-411D-9682-3CEE2185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A2"/>
          </a:solidFill>
          <a:ln xmlns:a="http://schemas.openxmlformats.org/drawingml/2006/main" w="0">
            <a:solidFill>
              <a:srgbClr val="2F66A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1A08F-CDD0-4100-B8BC-3D22B441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Vue 3 / Vite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问答台 + 管理后台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C6837-430A-4608-B27A-F96BC415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24150"/>
            <a:ext cx="2305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8"/>
          </a:solidFill>
          <a:ln xmlns:a="http://schemas.openxmlformats.org/drawingml/2006/main" w="0">
            <a:solidFill>
              <a:srgbClr val="1F7A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C552F-4D25-45EF-81B3-689B4997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196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FastAPI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认证 / 租户 / 问答 / 管理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A84AE-3B62-4ADE-8A22-3ABD4813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02F"/>
          </a:solidFill>
          <a:ln xmlns:a="http://schemas.openxmlformats.org/drawingml/2006/main" w="0">
            <a:solidFill>
              <a:srgbClr val="D690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AEF85-927B-435D-A983-99D1D315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9555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Dify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Chatflow / Prompt / 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E370A8-EE55-400B-8587-A86FA05C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909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FA2"/>
          </a:solidFill>
          <a:ln xmlns:a="http://schemas.openxmlformats.org/drawingml/2006/main" w="0">
            <a:solidFill>
              <a:srgbClr val="7A5FA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73CE0-92CF-49E4-B9CE-BC5DDE39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24250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RAGFlow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资料清洗 / 检索 / 复核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1DDF0-76D5-4EFC-9ECD-008A908D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52950"/>
            <a:ext cx="2305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33B"/>
          </a:solidFill>
          <a:ln xmlns:a="http://schemas.openxmlformats.org/drawingml/2006/main" w="0">
            <a:solidFill>
              <a:srgbClr val="2533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4AEFA-4F86-4A3D-948F-EA7E841E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86300"/>
            <a:ext cx="196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MySQL + SQLAlchemy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租户 / FAQ / 日志 / 反馈 / 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3AEA6-6F68-4973-9FBB-B5646614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F6D"/>
          </a:solidFill>
          <a:ln xmlns:a="http://schemas.openxmlformats.org/drawingml/2006/main" w="0">
            <a:solidFill>
              <a:srgbClr val="4E7F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458E1-BA6B-4125-A5AA-3D63D51C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本地 FAQ 兜底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高频问题与来源目录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9F8EC-3901-4B34-BF38-F172ED1E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F"/>
          </a:solidFill>
          <a:ln xmlns:a="http://schemas.openxmlformats.org/drawingml/2006/main" w="0">
            <a:solidFill>
              <a:srgbClr val="CFD6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C45624-8FEB-44BA-A7A5-B73D65DC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F"/>
          </a:solidFill>
          <a:ln xmlns:a="http://schemas.openxmlformats.org/drawingml/2006/main" w="0">
            <a:solidFill>
              <a:srgbClr val="CFD6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C95E5-2DEF-4FDE-B078-D3830275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7050"/>
            <a:ext cx="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F"/>
          </a:solidFill>
          <a:ln xmlns:a="http://schemas.openxmlformats.org/drawingml/2006/main" w="0">
            <a:solidFill>
              <a:srgbClr val="CFD6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A4F8E-4836-46F0-82D6-55EE4645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409950"/>
            <a:ext cx="19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F"/>
          </a:solidFill>
          <a:ln xmlns:a="http://schemas.openxmlformats.org/drawingml/2006/main" w="0">
            <a:solidFill>
              <a:srgbClr val="CFD6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2982E-3D92-475D-AA04-B75BBBAF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958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F"/>
          </a:solidFill>
          <a:ln xmlns:a="http://schemas.openxmlformats.org/drawingml/2006/main" w="0">
            <a:solidFill>
              <a:srgbClr val="CFD6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799A15-2064-4673-A920-637BB79F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81250"/>
            <a:ext cx="1428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8B9C8C-F292-455A-8541-F684A55D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098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安全边界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1FF2DF-2997-412B-9031-807C4F31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90850"/>
            <a:ext cx="876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JWT</a:t>
            </a:r>
          </a:p>
          <a:p xmlns:a="http://schemas.openxmlformats.org/drawingml/2006/main">
            <a:pPr algn="ctr">
              <a:defRPr sz="1200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bcrypt</a:t>
            </a:r>
          </a:p>
          <a:p xmlns:a="http://schemas.openxmlformats.org/drawingml/2006/main">
            <a:pPr algn="ctr">
              <a:defRPr sz="1200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脱敏</a:t>
            </a:r>
          </a:p>
          <a:p xmlns:a="http://schemas.openxmlformats.org/drawingml/2006/main">
            <a:pPr algn="ctr">
              <a:defRPr sz="1200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限流</a:t>
            </a:r>
          </a:p>
          <a:p xmlns:a="http://schemas.openxmlformats.org/drawingml/2006/main">
            <a:pPr algn="ctr">
              <a:defRPr sz="1200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CORS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9394B6-9405-4E25-B555-52FEDD61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814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B84E43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B84E43"/>
                </a:solidFill>
                <a:latin typeface="Aptos"/>
                <a:ea typeface="Aptos"/>
                <a:cs typeface="Aptos"/>
              </a:rPr>
              <a:t>上线前替换密钥和演示口径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51D1C8-06A8-42A8-9D6F-3002FFAF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A928C"/>
                </a:solidFill>
                <a:latin typeface="Aptos"/>
                <a:ea typeface="Aptos"/>
                <a:cs typeface="Aptos"/>
              </a:rPr>
              <a:t>来源：README 技术栈、docs/SECURITY_AND_TENANCY.md、docs/DIFY_RAGFLOW_GUIDE.md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94636-06CB-4128-9F38-08674B99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E4E8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C7FD3F-1E92-4C4A-B737-53A60CC3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A928C"/>
                </a:solidFill>
                <a:latin typeface="Aptos"/>
                <a:ea typeface="Aptos"/>
                <a:cs typeface="Aptos"/>
              </a:rPr>
              <a:t>企业用工与社保合规智能平台 | 项目汇报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624C28-8D2C-4E0F-AC18-6807478A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A928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88130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2345D5-AD76-413F-897D-3A0305D1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F6F7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9516C-A7A3-4DBF-8DA8-D1ACE47A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7A5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7A58"/>
                </a:solidFill>
                <a:latin typeface="Aptos"/>
                <a:ea typeface="Aptos"/>
                <a:cs typeface="Aptos"/>
              </a:rPr>
              <a:t>MVP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79791-8BD9-4B4F-90BA-EBFD6CC1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71475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6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F6178-BF82-4B23-A18E-5050A34B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当前 MVP 已覆盖演示所需的前台、后台、知识运营和运维入口。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F9591-2FE3-48FD-B866-CB9D32CF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种子数据和功能页面让平台具备“可打开、可问答、可追溯、可反馈、可运营”的演示闭环。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23892-2871-4B6A-B9BC-C87F00EC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8"/>
          </a:solidFill>
          <a:ln xmlns:a="http://schemas.openxmlformats.org/drawingml/2006/main" w="0">
            <a:solidFill>
              <a:srgbClr val="1F7A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8D5ED-AAA1-4351-B0E8-BB6C383B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6222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476AC-69E0-4DB8-84A3-F1693EB7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演示租户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B9A53-D7B6-4AB6-9389-FFE0EEF0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demo-sx / 陕西演示企业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08F15-66FB-4C4A-A59E-74FBCFF2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098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A2"/>
          </a:solidFill>
          <a:ln xmlns:a="http://schemas.openxmlformats.org/drawingml/2006/main" w="0">
            <a:solidFill>
              <a:srgbClr val="2F66A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F8A7E-C0C5-4E1B-8617-72DE9BE4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6222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CA085-7222-4D3F-AA46-67714752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527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管理员账号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12724-5980-43BF-9DB2-91CBC8FE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33725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平台超管 + 租户管理员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5D828-FBEE-4472-A600-B0FAB1BD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098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02F"/>
          </a:solidFill>
          <a:ln xmlns:a="http://schemas.openxmlformats.org/drawingml/2006/main" w="0">
            <a:solidFill>
              <a:srgbClr val="D690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71F38-F1A1-4F23-A9A4-0104C4DF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6222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A0945-EDDB-43E7-A33B-D0AFDD23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527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来源目录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86717-D60A-42F8-B913-DC9302DB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33725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政策来源与演示复核状态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4957B-E91F-48FE-AE58-CC569D48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098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8"/>
          </a:solidFill>
          <a:ln xmlns:a="http://schemas.openxmlformats.org/drawingml/2006/main" w="0">
            <a:solidFill>
              <a:srgbClr val="1F7A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E4D7F9-7220-4B14-A1AC-E61311F5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6222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7ECCB1-B0E7-44F3-8A65-0608DDFF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527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FAQ 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53BB8A-D2F0-4034-B741-C44CB29B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33725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本地兜底问答资产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5A0D00-72AB-482B-B844-581E590E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098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A2"/>
          </a:solidFill>
          <a:ln xmlns:a="http://schemas.openxmlformats.org/drawingml/2006/main" w="0">
            <a:solidFill>
              <a:srgbClr val="2F66A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E017B6-9CF7-47E1-9956-3449A18A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6222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17581D-107C-4B32-8188-79DCD76F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验收问题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752B35-323B-47DF-97EE-02A2E897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33725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自动化测试与演示样例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1C9F74-F81B-429A-85C8-3438DB51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8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5324FC-0CDD-465A-A2EE-E63D99A8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用户端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718C8C-12C9-4AAC-8809-E3E5C65D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29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问答、来源、风险等级、办事路径、反馈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A1B334-B980-4192-9E16-6E482DCE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148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6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38566B-D4BE-40F2-AF6B-F91348C4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053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历史记录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5F997B-548C-4FE7-A0AA-4E86A022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29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租户与浏览器用户维度的问答回看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1ED45F-071A-4506-9385-BA55D8FE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148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8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F7448A-9800-4180-A139-EE2A4206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053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管理后台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F2348F-61B0-44AC-A9DB-43244602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概览、租户、账号、日志、反馈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2EE46F-277E-4174-A3FE-56327D97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148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6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C4E3E3-5ADE-4C81-BDB1-9F3486ED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053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知识运营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0B09E7-C182-4237-8050-F6FE0C29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29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FAQ、来源目录、知识包、测试问题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939C84-8F5F-4B5B-8D98-DF89DFCB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1036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F"/>
          </a:solidFill>
          <a:ln xmlns:a="http://schemas.openxmlformats.org/drawingml/2006/main" w="0">
            <a:solidFill>
              <a:srgbClr val="EEF4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58E0DB-0583-43F7-A66C-2567E45F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53100"/>
            <a:ext cx="9886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01B"/>
                </a:solidFill>
                <a:latin typeface="Aptos"/>
                <a:ea typeface="Aptos"/>
                <a:cs typeface="Aptos"/>
              </a:rPr>
              <a:t>运维增强：新增一键启动/停止脚本，日志写入 logs/，运行 PID 写入 .run/；默认端口前端 3000、后端 8000。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FF52CF-D953-495E-9C47-7666F695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A928C"/>
                </a:solidFill>
                <a:latin typeface="Aptos"/>
                <a:ea typeface="Aptos"/>
                <a:cs typeface="Aptos"/>
              </a:rPr>
              <a:t>来源：docs/OPERATION.md 演示数据与一键脚本说明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22250D-DB07-4811-BB7A-EE7CADFA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E4E8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946D2A-1D39-4C1E-B231-45382C00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A928C"/>
                </a:solidFill>
                <a:latin typeface="Aptos"/>
                <a:ea typeface="Aptos"/>
                <a:cs typeface="Aptos"/>
              </a:rPr>
              <a:t>企业用工与社保合规智能平台 | 项目汇报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1573BD-DCAC-40D9-897B-FE66FACB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A928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542599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0342A4-6009-4B98-B677-5F134DF6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F6F7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7AFE3-3CC6-403C-95AE-665EF10B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7A5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7A58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58F83-57C3-4F9E-A192-41B13FC1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71475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6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F8BDB-22AE-450F-A3D3-0B24D73A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多租户和安全设计让 MVP 有机会平滑走向 SaaS 与私有化交付。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496A5-3D50-42BA-9ABB-2D220343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914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当前采用共享库共享表、行级租户隔离；强监管或大型私有化场景可升级为单租户独立数据库。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16680-B170-48D1-AE45-6E8BE74F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51435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7BFE7-F3B3-4156-AA65-B8D7BC65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角色权限矩阵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15E2A-4CEF-468B-A2F3-60EC85B0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E4E8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502C4-9625-449F-89C8-396C0949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A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8"/>
                </a:solidFill>
                <a:latin typeface="Aptos"/>
                <a:ea typeface="Aptos"/>
                <a:cs typeface="Aptos"/>
              </a:rPr>
              <a:t>super_admin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D48F7-2E47-4DA0-8A1D-00A8B889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全平台租户、账号、数据、知识包、日志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8FA051-CA8C-44CB-A118-198A04BA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E4E8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17C1A-DE37-4B64-8890-BC01FEC6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6A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A2"/>
                </a:solidFill>
                <a:latin typeface="Aptos"/>
                <a:ea typeface="Aptos"/>
                <a:cs typeface="Aptos"/>
              </a:rPr>
              <a:t>tenant_admin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BF2E1-E51C-4666-BB4C-1A2A8F7D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862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本租户账号、FAQ、来源、日志、反馈、知识包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E6DF6-C9CC-4EE2-A539-D53280CC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E4E8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D5F524-9B39-4E18-933D-8B1246AE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6A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A2"/>
                </a:solidFill>
                <a:latin typeface="Aptos"/>
                <a:ea typeface="Aptos"/>
                <a:cs typeface="Aptos"/>
              </a:rPr>
              <a:t>operator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9DB5AA-ABBC-4020-BBFD-04470F1F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434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本租户 FAQ、来源、日志、反馈、知识包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C66B64-C18B-4F31-891A-346A419C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E4E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CBD63-F0AD-4038-8557-CD24C2BC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6A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A2"/>
                </a:solidFill>
                <a:latin typeface="Aptos"/>
                <a:ea typeface="Aptos"/>
                <a:cs typeface="Aptos"/>
              </a:rPr>
              <a:t>viewer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D0D97D-F214-4515-B05A-1184ABD9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006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本租户概览与日志只读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DB8795-9D2F-4E46-AC22-11D4C704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40005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0">
            <a:solidFill>
              <a:srgbClr val="17201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94459-D539-4C72-BF0E-74E606A3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90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安全控制链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BE99A0-E032-44B2-96C7-ABA984C9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480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8"/>
          </a:solidFill>
          <a:ln xmlns:a="http://schemas.openxmlformats.org/drawingml/2006/main" w="0">
            <a:solidFill>
              <a:srgbClr val="1F7A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FA1716-70FA-4E14-BD2A-730A635E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3377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JWT 登录认证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8871F8-FD5C-4988-8E1E-5E8D27A2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480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A2"/>
          </a:solidFill>
          <a:ln xmlns:a="http://schemas.openxmlformats.org/drawingml/2006/main" w="0">
            <a:solidFill>
              <a:srgbClr val="2F66A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54518-6E1C-40CB-A924-AD4D733D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3377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bcrypt 密码哈希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A04900-AE7E-47EC-ACB2-A600A57C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62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8"/>
          </a:solidFill>
          <a:ln xmlns:a="http://schemas.openxmlformats.org/drawingml/2006/main" w="0">
            <a:solidFill>
              <a:srgbClr val="1F7A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A9AA16-CD51-4935-A875-6FCAD519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481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tenant_id 强制过滤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AAAECD-4C80-45CC-93E2-1088B82B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62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A2"/>
          </a:solidFill>
          <a:ln xmlns:a="http://schemas.openxmlformats.org/drawingml/2006/main" w="0">
            <a:solidFill>
              <a:srgbClr val="2F66A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DCE155-E318-4045-A2CD-B8303385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481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请求体限制与 IP 限流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EA5309-3C98-497E-A8E3-91BE6EA5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767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8"/>
          </a:solidFill>
          <a:ln xmlns:a="http://schemas.openxmlformats.org/drawingml/2006/main" w="0">
            <a:solidFill>
              <a:srgbClr val="1F7A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3ABF74-8AFB-439D-AA41-2D5AFEE7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6247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身份证/手机号/银行卡/邮箱脱敏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352B8E-5E6E-4402-A6E5-54F4BE56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767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A2"/>
          </a:solidFill>
          <a:ln xmlns:a="http://schemas.openxmlformats.org/drawingml/2006/main" w="0">
            <a:solidFill>
              <a:srgbClr val="2F66A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F86E65-8530-4BB7-93EB-D2BEA1D6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6247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Dify API Key 不返回给前端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6DE9CC-5683-4F06-A1B1-29419662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7215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B84E4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84E43"/>
                </a:solidFill>
                <a:latin typeface="Aptos"/>
                <a:ea typeface="Aptos"/>
                <a:cs typeface="Aptos"/>
              </a:rPr>
              <a:t>生产上线前：替换 JWT_SECRET_KEY、初始密码、API Key，并对演示来源做官方复核。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BF6101-8746-4DDB-A685-622210C5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A928C"/>
                </a:solidFill>
                <a:latin typeface="Aptos"/>
                <a:ea typeface="Aptos"/>
                <a:cs typeface="Aptos"/>
              </a:rPr>
              <a:t>来源：docs/SECURITY_AND_TENANCY.md、docs/OPERATION.md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263D0B-8C3C-43A8-9E39-DDAA2956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E4E8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5D27D3-108D-44F7-A726-F51F3616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A928C"/>
                </a:solidFill>
                <a:latin typeface="Aptos"/>
                <a:ea typeface="Aptos"/>
                <a:cs typeface="Aptos"/>
              </a:rPr>
              <a:t>企业用工与社保合规智能平台 | 项目汇报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0D779D-9496-4DAC-A4BC-FF8C825E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A928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662556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20A53A-A607-466F-8892-84C53CA1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F6F7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5F43F-60F7-4097-95D7-52427890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7A5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7A58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AB7D3-B3C9-4E69-B726-49C67024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71475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6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4744E-82EE-4AA5-A2F0-9BC1D04E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商业化路径建议采用 SaaS + 私有化部署 + 知识包服务的组合模式。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B9A59-A92C-4FD6-ACC3-28A64AAB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885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项目书已把陕西知识包定义为首个 MVP 场景，后续复制到更多省市、行业和企业制度包。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1D4E5-A067-458E-AB37-31AFBFE3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9D8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44DDA-60E7-4EB1-A8BD-5746722A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8"/>
          </a:solidFill>
          <a:ln xmlns:a="http://schemas.openxmlformats.org/drawingml/2006/main" w="0">
            <a:solidFill>
              <a:srgbClr val="1F7A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EAFE7-3F98-47C0-8F01-DF1DC886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SaaS 订阅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FD936-9ACD-466C-95EF-FC5FBC93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基础版 / 专业版 / 高级版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B0901-DF91-40EC-8ABC-A76F3392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71950"/>
            <a:ext cx="205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8"/>
          </a:solidFill>
          <a:ln xmlns:a="http://schemas.openxmlformats.org/drawingml/2006/main" w="0">
            <a:solidFill>
              <a:srgbClr val="1F7A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7E5D9-2EBD-4D68-A46D-AD5B0F3B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按企业、地区知识包、管理员与接口能力分层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00B22-3776-495B-AB53-92E40B6E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DD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411EA-7650-47D1-B788-0DC93D67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A2"/>
          </a:solidFill>
          <a:ln xmlns:a="http://schemas.openxmlformats.org/drawingml/2006/main" w="0">
            <a:solidFill>
              <a:srgbClr val="2F66A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16F6B-ECE4-433B-9DA0-5E637226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私有化部署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56E20-12B6-4925-8374-341718BA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338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独立部署 + 本地知识库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26FD8-B1BC-4AB8-AC19-82F27EAB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71950"/>
            <a:ext cx="205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A2"/>
          </a:solidFill>
          <a:ln xmlns:a="http://schemas.openxmlformats.org/drawingml/2006/main" w="0">
            <a:solidFill>
              <a:srgbClr val="2F66A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77D65-293D-45BA-A0EA-A11A6F6C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00550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面向集团、强监管企业和数据不出域场景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506DAF-2EBB-462D-A24E-52FA4388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5750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2D7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36500-FC47-4EDF-B2C4-354543D5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575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02F"/>
          </a:solidFill>
          <a:ln xmlns:a="http://schemas.openxmlformats.org/drawingml/2006/main" w="0">
            <a:solidFill>
              <a:srgbClr val="D690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61A98-84E7-40A0-BE9A-D695CC65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知识包服务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752134-70D8-433A-A43B-AA802C67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区域包 / 行业包 / 企业制度包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0DA7C-8736-441A-91E3-7F4F7853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205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02F"/>
          </a:solidFill>
          <a:ln xmlns:a="http://schemas.openxmlformats.org/drawingml/2006/main" w="0">
            <a:solidFill>
              <a:srgbClr val="D690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28D4D0-9F9D-4326-9E2A-B2715F71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持续更新政策来源、FAQ、办事路径和复核记录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DB179F-7BA0-4A65-8358-462AB89B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562600"/>
            <a:ext cx="910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F"/>
          </a:solidFill>
          <a:ln xmlns:a="http://schemas.openxmlformats.org/drawingml/2006/main" w="0">
            <a:solidFill>
              <a:srgbClr val="EEF3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915451-0BFF-49C3-A7C7-C27F4FB4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76900"/>
            <a:ext cx="868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扩展节奏：MVP -&gt; Beta -&gt; 商业试点 -&gt; 规模化复制；从陕西包扩展到更多地区、行业与企业内部制度。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5F1C91-92C3-47AA-B44F-20718F8B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A928C"/>
                </a:solidFill>
                <a:latin typeface="Aptos"/>
                <a:ea typeface="Aptos"/>
                <a:cs typeface="Aptos"/>
              </a:rPr>
              <a:t>来源：项目书《商业模式设计》《产品发展路径》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F43A02-33F8-4579-9615-9AFA0EA6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E4E8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752FA8-9588-4A0A-AE1D-92623A8A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A928C"/>
                </a:solidFill>
                <a:latin typeface="Aptos"/>
                <a:ea typeface="Aptos"/>
                <a:cs typeface="Aptos"/>
              </a:rPr>
              <a:t>企业用工与社保合规智能平台 | 项目汇报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F179F0-46EA-4E1D-8479-C3ACB130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A928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24181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633965-E917-429C-8D09-8D6C71D3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F6F7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39E3F-348E-459E-B2D9-68C33EB8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7A5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7A58"/>
                </a:solidFill>
                <a:latin typeface="Aptos"/>
                <a:ea typeface="Aptos"/>
                <a:cs typeface="Aptos"/>
              </a:rPr>
              <a:t>DELIVERY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6A3EF-07FB-45BA-8693-091C5A60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71475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6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8D695-85F4-401B-B041-C22C28FA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下一步重点不是堆功能，而是把演示口径打磨成可交付标准包。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2659F-4366-4EB8-881A-7F022E88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885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当前项目已经具备 MVP 骨架，后续应优先补齐政策复核、部署配置、客户试点和数据治理规则。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03A4E-32C4-45C6-984E-771992A0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11430">
            <a:solidFill>
              <a:srgbClr val="A9D8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FB336-03B7-4BCA-8EED-402A22A6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1945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5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7A5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D7C39-0330-47A1-B2E3-3D6CE296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MVP 固化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5C7B6-7903-4524-AC57-07FB489E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一键启动、账号、演示数据、验收问题稳定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62C8C-1A14-46DE-9D51-0FC6F937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671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F"/>
          </a:solidFill>
          <a:ln xmlns:a="http://schemas.openxmlformats.org/drawingml/2006/main" w="0">
            <a:solidFill>
              <a:srgbClr val="CFD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AB907-5035-4CB3-9C25-DBA2AFC2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8"/>
          </a:solidFill>
          <a:ln xmlns:a="http://schemas.openxmlformats.org/drawingml/2006/main" w="11430">
            <a:solidFill>
              <a:srgbClr val="BDD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B8278-E714-4ACE-BB9B-6384335E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6A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6A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DFEBE-B15C-4BC9-8616-37EE4F40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7665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来源复核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63EA3-B56E-4E4B-8100-C75AA0DD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5765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替换演示口径，建立政策来源复核清单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672A4-C95B-47A2-9C82-07AAEF68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671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F"/>
          </a:solidFill>
          <a:ln xmlns:a="http://schemas.openxmlformats.org/drawingml/2006/main" w="0">
            <a:solidFill>
              <a:srgbClr val="CFD6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5CC94-7A32-45AF-99D5-7D6E9B71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11430">
            <a:solidFill>
              <a:srgbClr val="A9D8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92887-6C82-44D4-BF19-B309B5DE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5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7A5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439ED-4823-40E7-9E47-F6446042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客户试点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E608D-3072-479B-A884-B4098BAF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接入企业制度包，验证 HR 高频场景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A96EAD-2892-425A-9CAF-95550949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671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CF"/>
          </a:solidFill>
          <a:ln xmlns:a="http://schemas.openxmlformats.org/drawingml/2006/main" w="0">
            <a:solidFill>
              <a:srgbClr val="CFD6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E52F34-CD08-4D93-8339-4076C328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8"/>
          </a:solidFill>
          <a:ln xmlns:a="http://schemas.openxmlformats.org/drawingml/2006/main" w="11430">
            <a:solidFill>
              <a:srgbClr val="BDD6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4CE1BC-8E51-4BCD-9F58-BFA7849F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6A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6A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9FF89E-D1FB-4082-AE61-F3AC261D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7665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商业包装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EA1F2A-C6D7-4173-8152-62DB21D9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5765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6A"/>
                </a:solidFill>
                <a:latin typeface="Aptos"/>
                <a:ea typeface="Aptos"/>
                <a:cs typeface="Aptos"/>
              </a:rPr>
              <a:t>SaaS 分层、私有化手册、知识包服务目录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14146A-E401-46D3-9AAE-53876BF0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14950"/>
            <a:ext cx="979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D"/>
          </a:solidFill>
          <a:ln xmlns:a="http://schemas.openxmlformats.org/drawingml/2006/main" w="0">
            <a:solidFill>
              <a:srgbClr val="14231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0EDEE2-7E1A-4790-AD9D-8E95548C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67350"/>
            <a:ext cx="925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交付判断标准：客户能理解价值、运维能稳定启动、知识能被复核、反馈能回流运营。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0FFC77-0F7B-41CB-89DA-9DAA3FF8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29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A928C"/>
                </a:solidFill>
                <a:latin typeface="Aptos"/>
                <a:ea typeface="Aptos"/>
                <a:cs typeface="Aptos"/>
              </a:rPr>
              <a:t>来源：项目书《项目发展路径》、docs/OPERATION.md、README 重要说明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533010-A02B-4056-810E-D6F17897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1"/>
          </a:solidFill>
          <a:ln xmlns:a="http://schemas.openxmlformats.org/drawingml/2006/main" w="0">
            <a:solidFill>
              <a:srgbClr val="E4E8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1B44AC-1816-4AB7-B9AD-21E07732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A928C"/>
                </a:solidFill>
                <a:latin typeface="Aptos"/>
                <a:ea typeface="Aptos"/>
                <a:cs typeface="Aptos"/>
              </a:rPr>
              <a:t>企业用工与社保合规智能平台 | 项目汇报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9AB35D-0566-45BE-ABFF-6E90857C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8A928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A928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446952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C9B6D5-74A8-4F48-8D58-563BE40E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F6F7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9B921-1835-404A-808F-590B3834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D"/>
          </a:solidFill>
          <a:ln xmlns:a="http://schemas.openxmlformats.org/drawingml/2006/main" w="0">
            <a:solidFill>
              <a:srgbClr val="1423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802DC-74FF-41E9-8163-A09E469E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8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8AD"/>
                </a:solidFill>
                <a:latin typeface="Aptos"/>
                <a:ea typeface="Aptos"/>
                <a:cs typeface="Aptos"/>
              </a:rPr>
              <a:t>Team &amp; 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90E81-785C-4A0F-A9D4-3EBD84CB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预留组织与人员信息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089D3-D94D-4B72-B54D-3075D482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571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E1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FE1D8"/>
                </a:solidFill>
                <a:latin typeface="Aptos"/>
                <a:ea typeface="Aptos"/>
                <a:cs typeface="Aptos"/>
              </a:rPr>
              <a:t>建议用于正式汇报前填写甲方/乙方组织名称、项目负责人、产品/技术/知识运营/测试等成员姓名。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0BE4F-3130-4FE5-AE82-ADCB7746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F6F7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A824F-B518-4C93-9694-3B952E66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52775"/>
            <a:ext cx="415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组织名称：________________________________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5C64C-DA94-4EB1-B505-59CC7BF4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F6F7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40FDF-7636-49F2-B969-5BB9DADA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415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项目负责人：____________________________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02D2E-E2A5-46FD-9B04-77E7DB08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F6F7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27478-CED2-4DBD-B318-64151BC5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520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团队成员：________________ ________________ ________________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56A5D-1879-42B5-96D4-9C084085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F6F7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9E2BC-22FA-4AB1-9A74-47879D7F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3200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汇报日期：________年____月____日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06E2E-B5B1-43C0-9FA3-28BEE953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23950"/>
            <a:ext cx="3143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32"/>
          </a:solidFill>
          <a:ln xmlns:a="http://schemas.openxmlformats.org/drawingml/2006/main" w="0">
            <a:solidFill>
              <a:srgbClr val="203A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F0FF5-D54E-4FE9-803B-F8A2D8B9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669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5A0"/>
          </a:solidFill>
          <a:ln xmlns:a="http://schemas.openxmlformats.org/drawingml/2006/main" w="0">
            <a:solidFill>
              <a:srgbClr val="83B5A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02E9D-1E0C-4132-A0F0-BF559DB6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感谢聆听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B1D7B-AF26-4E04-A1B0-D525CCDF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FE1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E1D8"/>
                </a:solidFill>
                <a:latin typeface="Aptos"/>
                <a:ea typeface="Aptos"/>
                <a:cs typeface="Aptos"/>
              </a:rPr>
              <a:t>企业用工与社保合规智能平台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3B7FC-362C-4ADC-912D-6C6D8E34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242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8A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8AD"/>
                </a:solidFill>
                <a:latin typeface="Aptos"/>
                <a:ea typeface="Aptos"/>
                <a:cs typeface="Aptos"/>
              </a:rPr>
              <a:t>区域政策 | 企业制度 | 办事路径 | 知识运营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85561-22C7-47EC-B253-E5F72208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7195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5A0"/>
          </a:solidFill>
          <a:ln xmlns:a="http://schemas.openxmlformats.org/drawingml/2006/main" w="0">
            <a:solidFill>
              <a:srgbClr val="83B5A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8D06E-3DF5-46C2-A39B-A2B336B1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3390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FB8A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8AD"/>
                </a:solidFill>
                <a:latin typeface="Aptos"/>
                <a:ea typeface="Aptos"/>
                <a:cs typeface="Aptos"/>
              </a:rPr>
              <a:t>可编辑 PPTX</a:t>
            </a:r>
          </a:p>
        </p:txBody>
      </p:sp>
    </p:spTree>
    <p:extLst>
      <p:ext uri="{BB962C8B-B14F-4D97-AF65-F5344CB8AC3E}">
        <p14:creationId xmlns:p14="http://schemas.microsoft.com/office/powerpoint/2010/main" val="817629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2026-05-06T00:53:55.8500000Z</dcterms:created>
  <dcterms:modified xsi:type="dcterms:W3CDTF">2026-05-06T00:53:55.8500000Z</dcterms:modified>
</coreProperties>
</file>